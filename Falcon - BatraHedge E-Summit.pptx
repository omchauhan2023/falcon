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nva Sans Bold" charset="1" panose="020B0803030501040103"/>
      <p:regular r:id="rId22"/>
    </p:embeddedFont>
    <p:embeddedFont>
      <p:font typeface="Gotham Bold" charset="1" panose="00000000000000000000"/>
      <p:regular r:id="rId23"/>
    </p:embeddedFont>
    <p:embeddedFont>
      <p:font typeface="Gotham" charset="1" panose="00000000000000000000"/>
      <p:regular r:id="rId24"/>
    </p:embeddedFont>
    <p:embeddedFont>
      <p:font typeface="Canva Sans" charset="1" panose="020B0503030501040103"/>
      <p:regular r:id="rId25"/>
    </p:embeddedFont>
    <p:embeddedFont>
      <p:font typeface="Fira Code" charset="1" panose="020B080905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167" y="281940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5" y="0"/>
                </a:lnTo>
                <a:lnTo>
                  <a:pt x="2970725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8023" y="2354716"/>
            <a:ext cx="13771953" cy="3824735"/>
          </a:xfrm>
          <a:custGeom>
            <a:avLst/>
            <a:gdLst/>
            <a:ahLst/>
            <a:cxnLst/>
            <a:rect r="r" b="b" t="t" l="l"/>
            <a:pathLst>
              <a:path h="3824735" w="13771953">
                <a:moveTo>
                  <a:pt x="0" y="0"/>
                </a:moveTo>
                <a:lnTo>
                  <a:pt x="13771954" y="0"/>
                </a:lnTo>
                <a:lnTo>
                  <a:pt x="13771954" y="3824735"/>
                </a:lnTo>
                <a:lnTo>
                  <a:pt x="0" y="3824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8475" y="8508584"/>
            <a:ext cx="6772870" cy="98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2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eam Name: Falcon</a:t>
            </a:r>
          </a:p>
          <a:p>
            <a:pPr algn="l">
              <a:lnSpc>
                <a:spcPts val="4044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 Om Chauhan, Dhruv Patel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1683" y="6822610"/>
            <a:ext cx="16124634" cy="108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1"/>
              </a:lnSpc>
              <a:spcBef>
                <a:spcPct val="0"/>
              </a:spcBef>
            </a:pPr>
            <a:r>
              <a:rPr lang="en-US" b="true" sz="58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Designing Risk Intelligence, Not Just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722" y="2192997"/>
            <a:ext cx="16920556" cy="7065303"/>
            <a:chOff x="0" y="0"/>
            <a:chExt cx="22560741" cy="94204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0"/>
              <a:ext cx="10181717" cy="612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2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120"/>
              <a:ext cx="22560741" cy="6949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4"/>
                </a:lnSpc>
                <a:spcBef>
                  <a:spcPct val="0"/>
                </a:spcBef>
              </a:pPr>
              <a:r>
                <a:rPr lang="en-US" b="true" sz="3687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FINNIFTY Algorithmic Trading System</a:t>
              </a:r>
            </a:p>
            <a:p>
              <a:pPr algn="ctr">
                <a:lnSpc>
                  <a:spcPts val="5734"/>
                </a:lnSpc>
                <a:spcBef>
                  <a:spcPct val="0"/>
                </a:spcBef>
              </a:pPr>
              <a:r>
                <a:rPr lang="en-US" sz="3687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Structure-Based Trading with Machine Learning</a:t>
              </a:r>
            </a:p>
            <a:p>
              <a:pPr algn="ctr">
                <a:lnSpc>
                  <a:spcPts val="5734"/>
                </a:lnSpc>
                <a:spcBef>
                  <a:spcPct val="0"/>
                </a:spcBef>
              </a:pPr>
            </a:p>
            <a:p>
              <a:pPr algn="l" marL="688180" indent="-344090" lvl="1">
                <a:lnSpc>
                  <a:spcPts val="4956"/>
                </a:lnSpc>
                <a:buAutoNum type="arabicPeriod" startAt="1"/>
              </a:pPr>
              <a:r>
                <a:rPr lang="en-US" b="true" sz="3187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Objective:</a:t>
              </a:r>
              <a:r>
                <a:rPr lang="en-US" sz="3187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Develop a profitable algorithmic trading system for FINNIFTYindex</a:t>
              </a:r>
            </a:p>
            <a:p>
              <a:pPr algn="l" marL="688180" indent="-344090" lvl="1">
                <a:lnSpc>
                  <a:spcPts val="4956"/>
                </a:lnSpc>
                <a:buAutoNum type="arabicPeriod" startAt="1"/>
              </a:pPr>
              <a:r>
                <a:rPr lang="en-US" b="true" sz="3187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Approach:</a:t>
              </a:r>
              <a:r>
                <a:rPr lang="en-US" sz="3187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Combine technical structure analysis with XGBoost machine learning</a:t>
              </a:r>
            </a:p>
            <a:p>
              <a:pPr algn="l" marL="640502" indent="-320251" lvl="1">
                <a:lnSpc>
                  <a:spcPts val="4613"/>
                </a:lnSpc>
                <a:buAutoNum type="arabicPeriod" startAt="1"/>
              </a:pPr>
              <a:r>
                <a:rPr lang="en-US" b="true" sz="2966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Period:</a:t>
              </a:r>
              <a:r>
                <a:rPr lang="en-US" sz="296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August 2021 - April 2024 (404,367 1-minute bars)</a:t>
              </a:r>
            </a:p>
            <a:p>
              <a:pPr algn="l" marL="688180" indent="-344090" lvl="1">
                <a:lnSpc>
                  <a:spcPts val="4956"/>
                </a:lnSpc>
                <a:buAutoNum type="arabicPeriod" startAt="1"/>
              </a:pPr>
              <a:r>
                <a:rPr lang="en-US" b="true" sz="3187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Tools:</a:t>
              </a:r>
              <a:r>
                <a:rPr lang="en-US" sz="3187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Python, XGBoost, Pandas, Scikit-learn</a:t>
              </a:r>
            </a:p>
            <a:p>
              <a:pPr algn="l">
                <a:lnSpc>
                  <a:spcPts val="4956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103813" y="3583736"/>
              <a:ext cx="4574196" cy="740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0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581018" y="4606250"/>
              <a:ext cx="7979723" cy="612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3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426992" y="6177494"/>
              <a:ext cx="7927840" cy="505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7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2859" y="7697013"/>
              <a:ext cx="1371173" cy="82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8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2859" y="8808349"/>
              <a:ext cx="22110806" cy="612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Understanding what are we actually looking at and going to do 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7941" y="2472451"/>
            <a:ext cx="17477553" cy="6641056"/>
            <a:chOff x="0" y="0"/>
            <a:chExt cx="23303404" cy="885474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23303404" cy="50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97"/>
                </a:lnSpc>
                <a:spcBef>
                  <a:spcPct val="0"/>
                </a:spcBef>
              </a:pPr>
              <a:r>
                <a:rPr lang="en-US" b="true" sz="3278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St</a:t>
              </a:r>
              <a:r>
                <a:rPr lang="en-US" b="true" sz="3278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rategic Philosophy</a:t>
              </a:r>
            </a:p>
            <a:p>
              <a:pPr algn="l">
                <a:lnSpc>
                  <a:spcPts val="4320"/>
                </a:lnSpc>
              </a:pP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Ou</a:t>
              </a: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r strategy is built on the prin</a:t>
              </a: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ciple that price respects structure. Markets move in waves, and optimal entries occur when:</a:t>
              </a:r>
            </a:p>
            <a:p>
              <a:pPr algn="l" marL="599822" indent="-299911" lvl="1">
                <a:lnSpc>
                  <a:spcPts val="4320"/>
                </a:lnSpc>
                <a:buAutoNum type="arabicPeriod" startAt="1"/>
              </a:pP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Price retraces to key Fibonacci levels (OTE - Optimal Trade Entry)</a:t>
              </a:r>
            </a:p>
            <a:p>
              <a:pPr algn="l" marL="599822" indent="-299911" lvl="1">
                <a:lnSpc>
                  <a:spcPts val="4320"/>
                </a:lnSpc>
                <a:buAutoNum type="arabicPeriod" startAt="1"/>
              </a:pP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Institutional gaps (Fair Value Gaps) remain unfilled</a:t>
              </a:r>
            </a:p>
            <a:p>
              <a:pPr algn="l" marL="599822" indent="-299911" lvl="1">
                <a:lnSpc>
                  <a:spcPts val="4320"/>
                </a:lnSpc>
                <a:buAutoNum type="arabicPeriod" startAt="1"/>
              </a:pPr>
              <a:r>
                <a:rPr lang="en-US" sz="2778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Market regime shows clear directional bias</a:t>
              </a:r>
            </a:p>
            <a:p>
              <a:pPr algn="l">
                <a:lnSpc>
                  <a:spcPts val="3853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6192047" y="1275666"/>
              <a:ext cx="4599258" cy="760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6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660908" y="2298180"/>
              <a:ext cx="8023444" cy="631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8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506038" y="3859899"/>
              <a:ext cx="7971277" cy="53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2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186380"/>
              <a:ext cx="22231953" cy="3668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327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 Th</a:t>
              </a:r>
              <a:r>
                <a:rPr lang="en-US" b="true" sz="327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is Works</a:t>
              </a:r>
            </a:p>
            <a:p>
              <a:pPr algn="l" marL="600203" indent="-300101" lvl="1">
                <a:lnSpc>
                  <a:spcPts val="432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Fibonacci 0.5-0.7 Zone: The is where smart money acc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umu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tes pos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  <a:p>
              <a:pPr algn="l" marL="600203" indent="-300101" lvl="1">
                <a:lnSpc>
                  <a:spcPts val="432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Fai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 Value Gaps (FVG): Imbalances cre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ed by rapid price movements that act as magnets</a:t>
              </a:r>
            </a:p>
            <a:p>
              <a:pPr algn="l" marL="600203" indent="-300101" lvl="1">
                <a:lnSpc>
                  <a:spcPts val="432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Market Regime: Trending markets have momentum; we avoid 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choppy,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ing condi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ion</a:t>
              </a:r>
              <a:r>
                <a:rPr lang="en-US" sz="278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  <a:p>
              <a:pPr algn="l">
                <a:lnSpc>
                  <a:spcPts val="419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The Core Idea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76700" y="601704"/>
            <a:ext cx="1103446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Strategy Overview &amp; Core Intuition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The small elements which help in long run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170936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Technical Indicators &amp; Features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418" y="2087866"/>
            <a:ext cx="14906982" cy="730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A. Structure-Based Features 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1.</a:t>
            </a: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Fibonacci Retracement Levels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Calculated over 100-bar lookback window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Key levels: 0.382, 0.500, 0.618, 0.700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OTE Zone: 0.500 - 0.700 (expanded from traditional 0.618-0.786)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2. Fair Value Gaps (FVG)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Bullish FVG: Gap between candle 1 high and candle 3 low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Bearish FVG: Gap between candle 1 low and candle 3 high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Minimum gap: 0.05% of price (relaxed for more signals)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Persistence: 20 bars forward fill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3. </a:t>
            </a: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Market Regime Classification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Uses ADX (Average Directional Index) with 14-period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Threshold: ADX &gt; 20 (lowered from 25 for more signals)</a:t>
            </a:r>
          </a:p>
          <a:p>
            <a:pPr algn="l" marL="582930" indent="-291465" lvl="1">
              <a:lnSpc>
                <a:spcPts val="419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Classifications: RANGING, TRENDING, STRONG_UPTREND, STRONG_DOWNTREND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The small elements which help in long run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170936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Technical Indicators &amp; Features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95647"/>
            <a:ext cx="9442847" cy="31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B. Technical Indicat</a:t>
            </a:r>
            <a:r>
              <a:rPr lang="en-US" b="true" sz="2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ors </a:t>
            </a:r>
          </a:p>
          <a:p>
            <a:pPr algn="l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Momentum: RSI, MACD, ROC (5/10/20 periods)</a:t>
            </a:r>
          </a:p>
          <a:p>
            <a:pPr algn="l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Trend: SMA &amp; EMA (5, 10, 20, 50, 200 periods)</a:t>
            </a:r>
          </a:p>
          <a:p>
            <a:pPr algn="l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Volatility: Bollinger Bands, ATR</a:t>
            </a:r>
          </a:p>
          <a:p>
            <a:pPr algn="l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Volume: Volume ratio v 20-period MA, volume trend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07668"/>
            <a:ext cx="8468678" cy="31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</a:pPr>
            <a:r>
              <a:rPr lang="en-US" sz="2700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C. Time-Based Features</a:t>
            </a:r>
          </a:p>
          <a:p>
            <a:pPr algn="just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our of day (market hours: 9:15 AM - 3:30 PM)</a:t>
            </a:r>
          </a:p>
          <a:p>
            <a:pPr algn="just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Day of week</a:t>
            </a:r>
          </a:p>
          <a:p>
            <a:pPr algn="just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Days to month end (expiry awareness)</a:t>
            </a:r>
          </a:p>
          <a:p>
            <a:pPr algn="just" marL="582930" indent="-291465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Session period (opening, mid-session, closing)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Strategy with which we take entry in our trades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Entry Logic &amp; Signal Generation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315" y="2325940"/>
            <a:ext cx="10014109" cy="442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Entry Criteria (Confluence Approach)</a:t>
            </a:r>
          </a:p>
          <a:p>
            <a:pPr algn="l">
              <a:lnSpc>
                <a:spcPts val="3950"/>
              </a:lnSpc>
              <a:spcBef>
                <a:spcPct val="0"/>
              </a:spcBef>
            </a:pPr>
          </a:p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1: ML Signal</a:t>
            </a:r>
          </a:p>
          <a:p>
            <a:pPr algn="l" marL="548438" indent="-274219" lvl="1">
              <a:lnSpc>
                <a:spcPts val="3950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XGBoost predicts future direction (5-bar horizon)</a:t>
            </a:r>
          </a:p>
          <a:p>
            <a:pPr algn="l" marL="548438" indent="-274219" lvl="1">
              <a:lnSpc>
                <a:spcPts val="3950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Probability threshold: 0.3385 (optmz on validation set)</a:t>
            </a:r>
          </a:p>
          <a:p>
            <a:pPr algn="l" marL="548438" indent="-274219" lvl="1">
              <a:lnSpc>
                <a:spcPts val="3950"/>
              </a:lnSpc>
              <a:spcBef>
                <a:spcPct val="0"/>
              </a:spcBef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Model trained on 253,539 bars (70% of data)</a:t>
            </a:r>
          </a:p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2: Additional Filters</a:t>
            </a:r>
          </a:p>
          <a:p>
            <a:pPr algn="l" marL="548438" indent="-274219" lvl="1">
              <a:lnSpc>
                <a:spcPts val="3950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NOT overstretched (RSI not extreme)</a:t>
            </a:r>
          </a:p>
          <a:p>
            <a:pPr algn="l" marL="548438" indent="-274219" lvl="1">
              <a:lnSpc>
                <a:spcPts val="3950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Volume confirmation (volume surge OR trend)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88668" y="2755422"/>
            <a:ext cx="8031718" cy="541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9"/>
              </a:lnSpc>
              <a:spcBef>
                <a:spcPct val="0"/>
              </a:spcBef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Step 3: C</a:t>
            </a: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onfluence Filters</a:t>
            </a:r>
          </a:p>
          <a:p>
            <a:pPr algn="just">
              <a:lnSpc>
                <a:spcPts val="3949"/>
              </a:lnSpc>
              <a:spcBef>
                <a:spcPct val="0"/>
              </a:spcBef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Entry requires ANY of the following combinations:</a:t>
            </a:r>
          </a:p>
          <a:p>
            <a:pPr algn="just" marL="548387" indent="-274193" lvl="1">
              <a:lnSpc>
                <a:spcPts val="39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Option A: OTE + FVG</a:t>
            </a:r>
          </a:p>
          <a:p>
            <a:pPr algn="just" marL="548387" indent="-274193" lvl="1">
              <a:lnSpc>
                <a:spcPts val="3949"/>
              </a:lnSpc>
              <a:buAutoNum type="arabicPeriod" startAt="1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Price in OTE zone (0.5-0.7 Fibonacci) </a:t>
            </a:r>
          </a:p>
          <a:p>
            <a:pPr algn="just" marL="548387" indent="-274193" lvl="1">
              <a:lnSpc>
                <a:spcPts val="3949"/>
              </a:lnSpc>
              <a:buAutoNum type="arabicPeriod" startAt="1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Price in Fair Value Gap </a:t>
            </a:r>
          </a:p>
          <a:p>
            <a:pPr algn="just" marL="548387" indent="-274193" lvl="1">
              <a:lnSpc>
                <a:spcPts val="39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Option B: Strong Trend</a:t>
            </a:r>
          </a:p>
          <a:p>
            <a:pPr algn="just" marL="548387" indent="-274193" lvl="1">
              <a:lnSpc>
                <a:spcPts val="3949"/>
              </a:lnSpc>
              <a:buAutoNum type="arabicPeriod" startAt="1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Market regime = STRONG_UPTREND </a:t>
            </a:r>
          </a:p>
          <a:p>
            <a:pPr algn="just" marL="548387" indent="-274193" lvl="1">
              <a:lnSpc>
                <a:spcPts val="3949"/>
              </a:lnSpc>
              <a:buAutoNum type="arabicPeriod" startAt="1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OR Bullish FVG present </a:t>
            </a:r>
          </a:p>
          <a:p>
            <a:pPr algn="just" marL="548387" indent="-274193" lvl="1">
              <a:lnSpc>
                <a:spcPts val="39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Option C: Minimum Momentum</a:t>
            </a:r>
          </a:p>
          <a:p>
            <a:pPr algn="just" marL="548387" indent="-274193" lvl="1">
              <a:lnSpc>
                <a:spcPts val="3949"/>
              </a:lnSpc>
              <a:buAutoNum type="arabicPeriod" startAt="1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ADX &gt; 15 (directional movement) </a:t>
            </a:r>
          </a:p>
          <a:p>
            <a:pPr algn="just">
              <a:lnSpc>
                <a:spcPts val="39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Understanding what are we actually looking at and going to do 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Exit Logic &amp; Risk Management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174" y="2200131"/>
            <a:ext cx="7698343" cy="684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Exit Triggers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1. Take Pr</a:t>
            </a: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ofit Target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Risk-Reward Ratio: 1:2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Calculation: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 </a:t>
            </a: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Risk = Entry Price - Stop Loss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 Take Profit = Entry Price + (2 × Risk)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Example: Entry = 20,000, SL = 19,800</a:t>
            </a:r>
          </a:p>
          <a:p>
            <a:pPr algn="l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Risk = 200 points</a:t>
            </a:r>
          </a:p>
          <a:p>
            <a:pPr algn="l" marL="1122671" indent="-374224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TP = 20,400 (200 points × 2)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2. Chandelier Trailing Stop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Formula: Highest High (22 bars) - (3 × ATR)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Trails upward only (locks in profits)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Adapts to volatility automatically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03935" y="2200131"/>
            <a:ext cx="6792992" cy="639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3. Opp</a:t>
            </a: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osite Signal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ML probability drops below 0.3 (30%)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Indicates potential reversal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4. Trend Weakening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ADX falls below threshold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Loss of directional momentum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5. </a:t>
            </a:r>
            <a:r>
              <a:rPr lang="en-US" b="true" sz="25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Position Sizing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Fixed: 10% of current capital per trade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Commission: 0.03% per trade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Slippage: 0.01% per trade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Initial Capital: $100,000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Understanding what are we actually looking at and going to do 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Risk Management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68586"/>
            <a:ext cx="14404404" cy="654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9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A. Portfolio-Level Risk</a:t>
            </a:r>
          </a:p>
          <a:p>
            <a:pPr algn="l" marL="615208" indent="-307604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Max Drawdown Tolerance: 10%</a:t>
            </a:r>
          </a:p>
          <a:p>
            <a:pPr algn="l" marL="615208" indent="-307604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Max Concurrent Positions: 1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b="true" sz="284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</a:t>
            </a:r>
            <a:r>
              <a:rPr lang="en-US" b="true" sz="284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. Execution Risk</a:t>
            </a:r>
          </a:p>
          <a:p>
            <a:pPr algn="l" marL="615208" indent="-307604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Slippage: 0.01% factored into all trades</a:t>
            </a:r>
          </a:p>
          <a:p>
            <a:pPr algn="l" marL="615208" indent="-307604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Commission: 0.03% per trade </a:t>
            </a:r>
          </a:p>
          <a:p>
            <a:pPr algn="l" marL="615208" indent="-307604" lvl="1">
              <a:lnSpc>
                <a:spcPts val="3989"/>
              </a:lnSpc>
              <a:spcBef>
                <a:spcPct val="0"/>
              </a:spcBef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Entry/Exit Timing: Market orders with realistic fills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b="true" sz="284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</a:t>
            </a:r>
            <a:r>
              <a:rPr lang="en-US" b="true" sz="284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. Strategy Risk Controls</a:t>
            </a:r>
          </a:p>
          <a:p>
            <a:pPr algn="l" marL="615208" indent="-307604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Overstretched Filter: Avoid entering in extreme conditions (RSI &gt; 80 or &lt; 20)</a:t>
            </a:r>
          </a:p>
          <a:p>
            <a:pPr algn="l" marL="615208" indent="-307604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Regime Filter: Only trade in trending markets (avoid chop)</a:t>
            </a:r>
          </a:p>
          <a:p>
            <a:pPr algn="l" marL="615208" indent="-307604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Volume Filter: Ensure liquidity and conviction</a:t>
            </a:r>
          </a:p>
          <a:p>
            <a:pPr algn="l" marL="615208" indent="-307604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Chandelier Stop: Automatic risk adjustment based on volatility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Designing for Signal, Stability, and Scale.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Machine Learning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58320"/>
            <a:ext cx="6819983" cy="527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Model Selecti</a:t>
            </a:r>
            <a:r>
              <a:rPr lang="en-US" b="true" sz="28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on: XGBoost Classifier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Why XGBoost?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Handles non-linear relationships in market data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Built-in regularization prevents overfitting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Feature importance for interpretability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Fast training and prediction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Robust to imbalanced classes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577433" y="2658320"/>
            <a:ext cx="7002750" cy="574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Feat</a:t>
            </a:r>
            <a:r>
              <a:rPr lang="en-US" b="true" sz="28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ure Engineering Pipeline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Raw Data (OHLCV) → 8 columns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Structure Features (Fib, FVG, Regime) → +25 features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Technical Indicators (SMA, RSI, MACD) → +30 features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Time Features (Hour, Day, Expiry) → +8 features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Lag Features (Returns, Volume) → +9 features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Total: 70+ features → Model ready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1484" y="1472769"/>
            <a:ext cx="138850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Understanding what are we actually looking at and going to do 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graphicFrame>
        <p:nvGraphicFramePr>
          <p:cNvPr name="Object 4" id="4"/>
          <p:cNvGraphicFramePr/>
          <p:nvPr/>
        </p:nvGraphicFramePr>
        <p:xfrm>
          <a:off x="10468120" y="3102326"/>
          <a:ext cx="9704474" cy="7272785"/>
        </p:xfrm>
        <a:graphic>
          <a:graphicData uri="http://schemas.openxmlformats.org/presentationml/2006/ole">
            <p:oleObj imgW="11645900" imgH="9207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076700" y="601704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Training Process &amp; Data Splits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509" y="1952829"/>
            <a:ext cx="9827999" cy="71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Chronological Splitting Strategy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Method: Strict time-series split (no random shuffling) to simulate real-world forecasting.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Train Set (2021 – Jan 2026)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Validation Set (Jan 2023 – July 2023): </a:t>
            </a:r>
          </a:p>
          <a:p>
            <a:pPr algn="l" marL="548387" indent="-274193" lvl="1">
              <a:lnSpc>
                <a:spcPts val="3556"/>
              </a:lnSpc>
              <a:spcBef>
                <a:spcPct val="0"/>
              </a:spcBef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Test Set (July 2023 – April 2024)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Data Preparation Pipeline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Cleaning: Rows with NaN targets or &gt;50% missing features were dropped to ensure data integrity.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Scaling: Applied StandardScaler to normalize all input features (Mean=0, Variance=1), ensuring idicators like Volume don't dominate oscillating indicators like RSI.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Imbalance Handling: The dataset was naturally balanced (~50/50 Up/Down split).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080630" y="3716747"/>
          <a:ext cx="9429750" cy="2514600"/>
        </p:xfrm>
        <a:graphic>
          <a:graphicData uri="http://schemas.openxmlformats.org/presentationml/2006/ole">
            <p:oleObj imgW="11315700" imgH="439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43726" y="1472769"/>
            <a:ext cx="122005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“Ensuring Fair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 and Representative Model Evaluation.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08127" y="601704"/>
            <a:ext cx="106717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785" y="1943304"/>
            <a:ext cx="15520520" cy="133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Original Dataset</a:t>
            </a:r>
          </a:p>
          <a:p>
            <a:pPr algn="l">
              <a:lnSpc>
                <a:spcPts val="3744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samples: 366,737     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</a:p>
          <a:p>
            <a:pPr algn="l">
              <a:lnSpc>
                <a:spcPts val="343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03785" y="3182135"/>
            <a:ext cx="8635008" cy="24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Hold-Out Validation?</a:t>
            </a:r>
          </a:p>
          <a:p>
            <a:pPr algn="l" marL="548387" indent="-274193" lvl="1">
              <a:lnSpc>
                <a:spcPts val="3951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performance alone is misleading</a:t>
            </a:r>
          </a:p>
          <a:p>
            <a:pPr algn="l" marL="548387" indent="-274193" lvl="1">
              <a:lnSpc>
                <a:spcPts val="3951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 may memorize training patterns (overfitting)</a:t>
            </a:r>
          </a:p>
          <a:p>
            <a:pPr algn="l" marL="548387" indent="-274193" lvl="1">
              <a:lnSpc>
                <a:spcPts val="3951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Validation data simulates unseen future customers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3785" y="5552892"/>
            <a:ext cx="7908250" cy="152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Random Split Risk</a:t>
            </a:r>
          </a:p>
          <a:p>
            <a:pPr algn="l" marL="548798" indent="-274399" lvl="1">
              <a:lnSpc>
                <a:spcPts val="3954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data may have irregular split </a:t>
            </a:r>
          </a:p>
          <a:p>
            <a:pPr algn="l" marL="548798" indent="-274399" lvl="1">
              <a:lnSpc>
                <a:spcPts val="3954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Validation and Testing can give different results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3785" y="7405976"/>
            <a:ext cx="8683782" cy="138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Safety Check 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pipeline explicitly drops rows with NaN targets to ensure data integrity.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3726" y="1472769"/>
            <a:ext cx="122005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Test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ing That Reflects Real-World Performance.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8127" y="601704"/>
            <a:ext cx="106717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Testing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0374" y="1781379"/>
            <a:ext cx="15664082" cy="800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  <a:spcBef>
                <a:spcPct val="0"/>
              </a:spcBef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Evaluate performance using both statistical metrics and financial reality.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Evaluation Metrics (ML Layer)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ROC-AUC: Primary metric to measure the model's ability to distinguish between "Up" and "Down" moves (Result: 0.5636, indicating weak predictive power).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Precision vs. Recall: Analyzed the trade-off between capturing moves (Recall) and being correct (Precision).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Confusion Matrix: Monitored False Positives (bad trades) vs. True Positives to understand error distribution.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Backtesting Engine (Financial Layer)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Simulation: Realistic trade execution using the Test Set (unseen data).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Constraints: Included transaction costs (Commission: 0.03%, Slippage: 0.01%) to punish over-trading.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Risk Management: Implemented Chandelier Exits (Trailing Stop) and fixed Risk:Reward (1:2) targets.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sz="254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Reality Check: The backtest revealed a -55.30% return, highlighting that while the ML mechanics worked, but the underlying signal was not profitable.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2776" y="1472769"/>
            <a:ext cx="122005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Searching the Space Where Performa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nce Actually Lives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27177" y="601704"/>
            <a:ext cx="106717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Optuna Hyperparameter Tuning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2944" y="2402849"/>
            <a:ext cx="10062632" cy="624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4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 Strategy </a:t>
            </a:r>
          </a:p>
          <a:p>
            <a:pPr algn="l" marL="583796" indent="-291898" lvl="1">
              <a:lnSpc>
                <a:spcPts val="4206"/>
              </a:lnSpc>
              <a:buFont typeface="Arial"/>
              <a:buChar char="•"/>
            </a:pPr>
            <a:r>
              <a:rPr lang="en-US" sz="27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50 Optuna trials per model</a:t>
            </a:r>
          </a:p>
          <a:p>
            <a:pPr algn="l" marL="583796" indent="-291898" lvl="1">
              <a:lnSpc>
                <a:spcPts val="4206"/>
              </a:lnSpc>
              <a:buFont typeface="Arial"/>
              <a:buChar char="•"/>
            </a:pPr>
            <a:r>
              <a:rPr lang="en-US" sz="27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Tuned XGBoost</a:t>
            </a:r>
          </a:p>
          <a:p>
            <a:pPr algn="l">
              <a:lnSpc>
                <a:spcPts val="5006"/>
              </a:lnSpc>
              <a:spcBef>
                <a:spcPct val="0"/>
              </a:spcBef>
            </a:pPr>
          </a:p>
          <a:p>
            <a:pPr algn="l">
              <a:lnSpc>
                <a:spcPts val="5317"/>
              </a:lnSpc>
              <a:spcBef>
                <a:spcPct val="0"/>
              </a:spcBef>
            </a:pPr>
            <a:r>
              <a:rPr lang="en-US" b="true" sz="34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Hyperparameter Focus</a:t>
            </a:r>
          </a:p>
          <a:p>
            <a:pPr algn="l" marL="582928" indent="-291464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Capacity: max_depth , max_delta_step , gamma</a:t>
            </a:r>
          </a:p>
          <a:p>
            <a:pPr algn="l" marL="582928" indent="-291464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Dynamics: learning_rate , n_estimators</a:t>
            </a:r>
          </a:p>
          <a:p>
            <a:pPr algn="l" marL="582928" indent="-291464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Regularization: reg_alpha , reg_lambda , min_child_weight</a:t>
            </a:r>
          </a:p>
          <a:p>
            <a:pPr algn="l" marL="582928" indent="-291464" lvl="1">
              <a:lnSpc>
                <a:spcPts val="4198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Sampling: subsample , colsample_bytree ,    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colsample_bylevel</a:t>
            </a:r>
          </a:p>
          <a:p>
            <a:pPr algn="l">
              <a:lnSpc>
                <a:spcPts val="500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73236" y="4826721"/>
            <a:ext cx="6228829" cy="49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43726" y="1472769"/>
            <a:ext cx="122005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Searching the Space Where Performa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nce Actually Lives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08127" y="601704"/>
            <a:ext cx="106717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Optuna Hyperparameter Tuning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02992" y="2599984"/>
            <a:ext cx="6656308" cy="616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  <a:spcBef>
                <a:spcPct val="0"/>
              </a:spcBef>
            </a:pPr>
            <a:r>
              <a:rPr lang="en-US" b="true" sz="2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 Hyperparameters: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max_depth: 9</a:t>
            </a:r>
          </a:p>
          <a:p>
            <a:pPr algn="l">
              <a:lnSpc>
                <a:spcPts val="3483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learning_rate: 0.015816981413469905</a:t>
            </a:r>
          </a:p>
          <a:p>
            <a:pPr algn="l">
              <a:lnSpc>
                <a:spcPts val="3483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n_estimators: 400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min_child_weight: 3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subsample: 0.6389274219025062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colsample_bytree: 0.9987349142404867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colsample_bylevel: 0.7705609360826743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gamma: 0.28155316324336543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reg_alpha: 1.7346201315788978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reg_lambda: 3.2706207110759644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max_delta_step: 4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51"/>
              </a:lnSpc>
              <a:spcBef>
                <a:spcPct val="0"/>
              </a:spcBef>
            </a:pPr>
            <a:r>
              <a:rPr lang="en-US" sz="25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Performance: Value = 0.6746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2944" y="2599984"/>
            <a:ext cx="6656070" cy="616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  <a:spcBef>
                <a:spcPct val="0"/>
              </a:spcBef>
            </a:pPr>
            <a:r>
              <a:rPr lang="en-US" b="true" sz="2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 Hyperparameters: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max_depth: 6</a:t>
            </a:r>
          </a:p>
          <a:p>
            <a:pPr algn="l">
              <a:lnSpc>
                <a:spcPts val="3483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learning_rate: 0.05</a:t>
            </a:r>
          </a:p>
          <a:p>
            <a:pPr algn="l">
              <a:lnSpc>
                <a:spcPts val="3483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n_estimators: 1000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min_child_weight: 3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subsample: 0.8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colsample_bytree: 0.8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colsample_bylevel: 0.5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gamma: 0.1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reg_alpha: 0.1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reg_lambda: 1.0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- max_delta_step: 2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51"/>
              </a:lnSpc>
              <a:spcBef>
                <a:spcPct val="0"/>
              </a:spcBef>
            </a:pPr>
            <a:r>
              <a:rPr lang="en-US" sz="25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Performance: Value = 0.6291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3726" y="1472769"/>
            <a:ext cx="122005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Made for learning </a:t>
            </a:r>
            <a:r>
              <a:rPr lang="en-US" sz="2099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, not just score.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8127" y="601704"/>
            <a:ext cx="106717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Key Findings &amp; Final Results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7582" y="281834"/>
            <a:ext cx="2970724" cy="1041865"/>
          </a:xfrm>
          <a:custGeom>
            <a:avLst/>
            <a:gdLst/>
            <a:ahLst/>
            <a:cxnLst/>
            <a:rect r="r" b="b" t="t" l="l"/>
            <a:pathLst>
              <a:path h="1041865" w="2970724">
                <a:moveTo>
                  <a:pt x="0" y="0"/>
                </a:moveTo>
                <a:lnTo>
                  <a:pt x="2970724" y="0"/>
                </a:lnTo>
                <a:lnTo>
                  <a:pt x="2970724" y="1041865"/>
                </a:lnTo>
                <a:lnTo>
                  <a:pt x="0" y="104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579" y="2130692"/>
            <a:ext cx="10795344" cy="759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1. Critical Failure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Net Result: $45,248 (Total Loss)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Drawdown: -45.25% loss of total equity.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Reliability: 0 Profitable Months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2. The Core Problems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Win Rate: 9.8% (Only 1 in 10 trades makes money).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Risk/Reward Inversion:</a:t>
            </a:r>
          </a:p>
          <a:p>
            <a:pPr algn="l" marL="993135" indent="-331045" lvl="2">
              <a:lnSpc>
                <a:spcPts val="3219"/>
              </a:lnSpc>
              <a:buFont typeface="Arial"/>
              <a:buChar char="⚬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Avg Win: $5.81</a:t>
            </a:r>
          </a:p>
          <a:p>
            <a:pPr algn="l" marL="993135" indent="-331045" lvl="2">
              <a:lnSpc>
                <a:spcPts val="3219"/>
              </a:lnSpc>
              <a:buFont typeface="Arial"/>
              <a:buChar char="⚬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Avg Loss: $10.95</a:t>
            </a:r>
          </a:p>
          <a:p>
            <a:pPr algn="l" marL="993135" indent="-331045" lvl="2">
              <a:lnSpc>
                <a:spcPts val="3219"/>
              </a:lnSpc>
              <a:spcBef>
                <a:spcPct val="0"/>
              </a:spcBef>
              <a:buFont typeface="Arial"/>
              <a:buChar char="⚬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Result: </a:t>
            </a: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You lose nearly $2 for every $1 you make.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Over-Trading: 4,867 trades suggests signal noise, not signal quality.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3. The "Exit" Paradox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 Conflict: The system claims 58% of exits were "Take Profits," yet the win rate is only 9%.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Conclusion: The "Take Profit" targets are likely set so tight they fail to cover spread/commissions, turning technical wins into realized losses.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66845" y="2558415"/>
            <a:ext cx="5165202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Time-Frame should have been 5-min.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Option greeks (Theta decay)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2773" y="1028700"/>
            <a:ext cx="6762454" cy="5587621"/>
          </a:xfrm>
          <a:custGeom>
            <a:avLst/>
            <a:gdLst/>
            <a:ahLst/>
            <a:cxnLst/>
            <a:rect r="r" b="b" t="t" l="l"/>
            <a:pathLst>
              <a:path h="5587621" w="6762454">
                <a:moveTo>
                  <a:pt x="0" y="0"/>
                </a:moveTo>
                <a:lnTo>
                  <a:pt x="6762454" y="0"/>
                </a:lnTo>
                <a:lnTo>
                  <a:pt x="6762454" y="5587621"/>
                </a:lnTo>
                <a:lnTo>
                  <a:pt x="0" y="5587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2036" y="7069633"/>
            <a:ext cx="12541330" cy="292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Questi</a:t>
            </a:r>
            <a:r>
              <a:rPr lang="en-US" b="true" sz="2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ons?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Project Repository:</a:t>
            </a:r>
            <a:r>
              <a:rPr lang="en-US" sz="2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https://github.com/OmChauhan2023/Falcon- 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Contact:</a:t>
            </a:r>
            <a:r>
              <a:rPr lang="en-US" sz="2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9998986977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Date:</a:t>
            </a:r>
            <a:r>
              <a:rPr lang="en-US" sz="2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31</a:t>
            </a:r>
            <a:r>
              <a:rPr lang="en-US" sz="2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st</a:t>
            </a:r>
            <a:r>
              <a:rPr lang="en-US" sz="2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January 2026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DAG_9dn5fC4</dc:identifier>
  <dcterms:modified xsi:type="dcterms:W3CDTF">2011-08-01T06:04:30Z</dcterms:modified>
  <cp:revision>1</cp:revision>
  <dc:title>Falcon - BatraHedge E-Summit</dc:title>
</cp:coreProperties>
</file>